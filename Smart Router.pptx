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EBB74-B00E-D33D-7AE2-22F2A3AAA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AF884-9BB4-8061-FAC1-2C2D3B8DD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2D9EE-CF54-010B-F694-FB16AC32E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5B363-89D4-F4D1-2021-A01031223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E84A4-9934-897B-56ED-DD6D9BB3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13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0A00-3236-3991-A31B-537FCD17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ED1FF-EB3E-135C-6F7C-4E93AE30D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72024-5653-4B16-705E-2CC334890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9EBD5-35E2-147B-2366-5A92DB23B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6DBF0-5786-53E0-1899-E625BD6FE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35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3904-0A8A-D17F-46C1-CA6F127F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25DEC-32A2-DDA8-27E3-BDB22F2FE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D8512-8277-F25F-4FF9-DEBD4320A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791D2-5C6F-B172-5E8C-D2401DE0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F89A4-D625-879C-02D6-3EE0F382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40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0009-FF38-7900-DE8C-ED1515F8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668FD-3A9D-1EFB-9EBB-EEB5687DD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CDF52-D2C4-7424-4C54-E7BA93E02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13302-8B70-7A36-5D98-67296BAB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11455-8DF9-8742-A138-0A6D0645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A24C9-C885-5719-AFB3-EF16950E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70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7921D-3C86-F780-F964-02F28B4B9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DFEA3-73F9-C2D5-6B6E-52CEDE68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CFB5F-56E0-96B2-1960-65CC8CD95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DF4B8-F1B3-2E1C-CA0D-0A641586F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D2B73-AFA2-CBE3-4049-6A9CA1784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22D128-7C8A-95E3-E4DF-391B7B6F3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79E03-E625-800D-87AA-40DFFBB34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77893-B27F-78C8-89B2-1A56E4239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84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031F-7A0A-6EC5-4524-64FEA69D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80F02-0069-EA55-0864-26A4435A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01654D-5F2F-E19D-EA42-BAC3DD47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8077D-3159-7F72-BDBF-82EACF4B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446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99E68-266E-E8B0-62C0-9D3BDC4FB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B69DC0-B913-CF9C-66D6-1C2DB520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F59B0-31E5-E9FF-1999-C1A16008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516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2480-2E42-8B3D-A8F5-47FCE73FB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C47A-0B93-FA3D-B416-31820F1AF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137E9-FB53-0651-6FA8-F8795F4A0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E6180-825A-127A-BE09-61ADF364B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A246AE-27D8-758C-5219-7C00C35E8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1CC2-546F-0734-29F0-C2FF2BE77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71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8896-0193-89AD-9D6F-C37F5E678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70158-658F-0E11-20AF-7006F156F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A557BD-0234-529F-C415-764F5F3A30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4765D-E3D1-3456-DA56-AE96E1789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46C0E-55F5-9A35-4D61-325BAF4C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61DDC-DE0F-3BC0-C9A0-053502C0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27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2128-1479-D9B8-4E82-1F47E49F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B1D007-FBDB-E748-6F84-2EA32F8A6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7E026-8A16-AFD8-A559-63B5A6D3F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DAD06-A7C0-7491-A090-772B9245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5FA05-1981-907C-88A3-30411DD1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23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84D51-0B48-325A-0857-704A472BD3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C9E05-E271-5063-7D00-CC25781B3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D9D8C-6BD9-62FB-B253-C2640426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B711F-2E8A-1549-323E-FF88A3C7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BE43-ACDC-C6A8-7392-CFB5C3CA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6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977F8A-3870-7AB8-0EFA-2BAC2323D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C04AD-2CAC-602C-AAFE-359A26F93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1175-0A85-6A73-5710-9BA7A62EB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A5F27-5F46-411D-8CC4-EF08A9FAA8D5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3A724-02BF-930F-3A5D-22D41CBFA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F1555-A96E-7176-BD93-C9022CB0C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88598-E53E-4499-A93A-F1AD066A5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30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564509-E859-83B1-2AF6-390858C0FCC2}"/>
              </a:ext>
            </a:extLst>
          </p:cNvPr>
          <p:cNvSpPr txBox="1"/>
          <p:nvPr/>
        </p:nvSpPr>
        <p:spPr>
          <a:xfrm>
            <a:off x="2563587" y="438834"/>
            <a:ext cx="78050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Resilient Multi-LLM Gateway</a:t>
            </a:r>
            <a:endParaRPr lang="en-IN" sz="4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CB94BA9-F2A3-89DA-BE60-7420ECF7C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514" y="1328018"/>
            <a:ext cx="10602686" cy="4836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Rate Limits: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Free tier APIs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Groq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Gemini) have strict Requests Per Minute (RPM) and 		    Requests Per Day (RPD) quotas.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Downtime: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Single-provider dependency leads to system failure if that API goes down.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Cost Inefficiency: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paid models (GPT-4) for simple tasks wastes money.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"Smart Router"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sits between the user and the AI models.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manages traffic to prioritize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 Tiers first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Failover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backup models if the primary fails.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66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1FB638-3016-0192-FABC-51E9D9C8FEB9}"/>
              </a:ext>
            </a:extLst>
          </p:cNvPr>
          <p:cNvSpPr/>
          <p:nvPr/>
        </p:nvSpPr>
        <p:spPr>
          <a:xfrm>
            <a:off x="4626428" y="769441"/>
            <a:ext cx="2808514" cy="107768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Client Request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684A3-AAD4-17BF-0DEB-C20651E92B71}"/>
              </a:ext>
            </a:extLst>
          </p:cNvPr>
          <p:cNvSpPr txBox="1"/>
          <p:nvPr/>
        </p:nvSpPr>
        <p:spPr>
          <a:xfrm>
            <a:off x="3004457" y="0"/>
            <a:ext cx="58347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Flow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0AF1C9-B9CA-0A22-A8B9-58A7EABF6D93}"/>
              </a:ext>
            </a:extLst>
          </p:cNvPr>
          <p:cNvSpPr/>
          <p:nvPr/>
        </p:nvSpPr>
        <p:spPr>
          <a:xfrm>
            <a:off x="4822371" y="2242457"/>
            <a:ext cx="2416629" cy="936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Smart Router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(Checks RPM)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EC09A1-EA79-5582-1ED3-505C8BDAAC54}"/>
              </a:ext>
            </a:extLst>
          </p:cNvPr>
          <p:cNvSpPr/>
          <p:nvPr/>
        </p:nvSpPr>
        <p:spPr>
          <a:xfrm>
            <a:off x="7780563" y="2242456"/>
            <a:ext cx="2416629" cy="9361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State Manager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(Checks RPD)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64679EFD-04E9-CB40-9B26-DEDF112D3DC2}"/>
              </a:ext>
            </a:extLst>
          </p:cNvPr>
          <p:cNvSpPr/>
          <p:nvPr/>
        </p:nvSpPr>
        <p:spPr>
          <a:xfrm>
            <a:off x="478971" y="3429000"/>
            <a:ext cx="3690257" cy="1872343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Priority 1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(Groq)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F1CFA14-2541-83D3-4B67-51EDABE151C0}"/>
              </a:ext>
            </a:extLst>
          </p:cNvPr>
          <p:cNvSpPr/>
          <p:nvPr/>
        </p:nvSpPr>
        <p:spPr>
          <a:xfrm>
            <a:off x="4343398" y="3429000"/>
            <a:ext cx="3690257" cy="1872343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Priority 2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(Gemini)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78BBDBEE-CA49-B75A-74D4-F2A2E0768064}"/>
              </a:ext>
            </a:extLst>
          </p:cNvPr>
          <p:cNvSpPr/>
          <p:nvPr/>
        </p:nvSpPr>
        <p:spPr>
          <a:xfrm>
            <a:off x="8153400" y="3429000"/>
            <a:ext cx="3690257" cy="1872343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Priority 3</a:t>
            </a:r>
          </a:p>
          <a:p>
            <a:pPr algn="ctr"/>
            <a:r>
              <a:rPr lang="en-IN" sz="2800" dirty="0">
                <a:solidFill>
                  <a:schemeClr val="tx1"/>
                </a:solidFill>
              </a:rPr>
              <a:t>(OpenAI)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3D5CC7-1C04-B259-5BEB-D15EF80CA870}"/>
              </a:ext>
            </a:extLst>
          </p:cNvPr>
          <p:cNvSpPr/>
          <p:nvPr/>
        </p:nvSpPr>
        <p:spPr>
          <a:xfrm>
            <a:off x="4784269" y="5551714"/>
            <a:ext cx="2808514" cy="107768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Response Sent to Client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62EE2E-A19E-C1E0-6025-89392C96206E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>
            <a:off x="6030685" y="1847127"/>
            <a:ext cx="1" cy="395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1721FF0A-5FD4-BA43-13B9-F71EFEED89CA}"/>
              </a:ext>
            </a:extLst>
          </p:cNvPr>
          <p:cNvCxnSpPr>
            <a:stCxn id="4" idx="1"/>
            <a:endCxn id="8" idx="0"/>
          </p:cNvCxnSpPr>
          <p:nvPr/>
        </p:nvCxnSpPr>
        <p:spPr>
          <a:xfrm rot="10800000" flipV="1">
            <a:off x="2324101" y="2710542"/>
            <a:ext cx="2498271" cy="7184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11B274-473C-7249-70E3-B8808CE00700}"/>
              </a:ext>
            </a:extLst>
          </p:cNvPr>
          <p:cNvCxnSpPr>
            <a:cxnSpLocks/>
          </p:cNvCxnSpPr>
          <p:nvPr/>
        </p:nvCxnSpPr>
        <p:spPr>
          <a:xfrm>
            <a:off x="7239000" y="2394857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B49456-25F4-AB12-7AE9-6433E5F1C2C8}"/>
              </a:ext>
            </a:extLst>
          </p:cNvPr>
          <p:cNvCxnSpPr>
            <a:cxnSpLocks/>
          </p:cNvCxnSpPr>
          <p:nvPr/>
        </p:nvCxnSpPr>
        <p:spPr>
          <a:xfrm flipH="1">
            <a:off x="7239000" y="2881269"/>
            <a:ext cx="533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A350F64-B5A8-BB91-7AB9-B0F94382291D}"/>
              </a:ext>
            </a:extLst>
          </p:cNvPr>
          <p:cNvCxnSpPr>
            <a:cxnSpLocks/>
            <a:stCxn id="8" idx="2"/>
            <a:endCxn id="11" idx="1"/>
          </p:cNvCxnSpPr>
          <p:nvPr/>
        </p:nvCxnSpPr>
        <p:spPr>
          <a:xfrm rot="16200000" flipH="1">
            <a:off x="3159577" y="4465865"/>
            <a:ext cx="789214" cy="246016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40AADA1-8ADB-B260-8460-D6B5D3859A04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rot="5400000">
            <a:off x="8401049" y="4493077"/>
            <a:ext cx="789214" cy="24057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524271E-59CA-B7F8-011C-DAB231399B47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6188526" y="5301343"/>
            <a:ext cx="1" cy="250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E238338-E7B1-9063-9FC0-B1E1BC64CF9B}"/>
              </a:ext>
            </a:extLst>
          </p:cNvPr>
          <p:cNvCxnSpPr>
            <a:cxnSpLocks/>
            <a:stCxn id="8" idx="3"/>
            <a:endCxn id="9" idx="0"/>
          </p:cNvCxnSpPr>
          <p:nvPr/>
        </p:nvCxnSpPr>
        <p:spPr>
          <a:xfrm flipV="1">
            <a:off x="4169228" y="3429000"/>
            <a:ext cx="2019299" cy="936172"/>
          </a:xfrm>
          <a:prstGeom prst="bentConnector4">
            <a:avLst>
              <a:gd name="adj1" fmla="val 4313"/>
              <a:gd name="adj2" fmla="val 1116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62E8619A-EDCF-41BE-9388-A3F01E6C1A44}"/>
              </a:ext>
            </a:extLst>
          </p:cNvPr>
          <p:cNvCxnSpPr>
            <a:cxnSpLocks/>
          </p:cNvCxnSpPr>
          <p:nvPr/>
        </p:nvCxnSpPr>
        <p:spPr>
          <a:xfrm flipV="1">
            <a:off x="7979229" y="3428999"/>
            <a:ext cx="2019299" cy="936172"/>
          </a:xfrm>
          <a:prstGeom prst="bentConnector4">
            <a:avLst>
              <a:gd name="adj1" fmla="val 4313"/>
              <a:gd name="adj2" fmla="val 1116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ylinder 11">
            <a:extLst>
              <a:ext uri="{FF2B5EF4-FFF2-40B4-BE49-F238E27FC236}">
                <a16:creationId xmlns:a16="http://schemas.microsoft.com/office/drawing/2014/main" id="{AEDCED68-59C5-8917-E6BA-AEBFF9E5A45F}"/>
              </a:ext>
            </a:extLst>
          </p:cNvPr>
          <p:cNvSpPr/>
          <p:nvPr/>
        </p:nvSpPr>
        <p:spPr>
          <a:xfrm>
            <a:off x="10575470" y="2242456"/>
            <a:ext cx="1371599" cy="93617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solidFill>
                  <a:schemeClr val="tx1"/>
                </a:solidFill>
              </a:rPr>
              <a:t>Metrics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EE17EF-53AA-2560-AC1C-1F2CD2FA43F8}"/>
              </a:ext>
            </a:extLst>
          </p:cNvPr>
          <p:cNvCxnSpPr>
            <a:cxnSpLocks/>
          </p:cNvCxnSpPr>
          <p:nvPr/>
        </p:nvCxnSpPr>
        <p:spPr>
          <a:xfrm>
            <a:off x="10197192" y="2487990"/>
            <a:ext cx="378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E70A3B-95E3-2B3A-6F87-A7C6D7721977}"/>
              </a:ext>
            </a:extLst>
          </p:cNvPr>
          <p:cNvCxnSpPr>
            <a:cxnSpLocks/>
          </p:cNvCxnSpPr>
          <p:nvPr/>
        </p:nvCxnSpPr>
        <p:spPr>
          <a:xfrm flipH="1">
            <a:off x="10197192" y="2974402"/>
            <a:ext cx="378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F03C43-DA7D-1F9A-0130-DE3705C5FEFC}"/>
              </a:ext>
            </a:extLst>
          </p:cNvPr>
          <p:cNvSpPr txBox="1"/>
          <p:nvPr/>
        </p:nvSpPr>
        <p:spPr>
          <a:xfrm>
            <a:off x="1367973" y="5426528"/>
            <a:ext cx="89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Success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8AFA56-BD9F-5528-302B-37934AEE5970}"/>
              </a:ext>
            </a:extLst>
          </p:cNvPr>
          <p:cNvSpPr txBox="1"/>
          <p:nvPr/>
        </p:nvSpPr>
        <p:spPr>
          <a:xfrm>
            <a:off x="5232400" y="5196077"/>
            <a:ext cx="89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Success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ACE0D3-0C8E-B118-C2F8-CBB0000B5201}"/>
              </a:ext>
            </a:extLst>
          </p:cNvPr>
          <p:cNvSpPr txBox="1"/>
          <p:nvPr/>
        </p:nvSpPr>
        <p:spPr>
          <a:xfrm>
            <a:off x="9156699" y="5426528"/>
            <a:ext cx="89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Success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8B3F7E84-14B3-72A0-C896-CB4156B25CBE}"/>
              </a:ext>
            </a:extLst>
          </p:cNvPr>
          <p:cNvCxnSpPr>
            <a:stCxn id="10" idx="3"/>
          </p:cNvCxnSpPr>
          <p:nvPr/>
        </p:nvCxnSpPr>
        <p:spPr>
          <a:xfrm flipH="1">
            <a:off x="7592783" y="4365172"/>
            <a:ext cx="4250874" cy="2002971"/>
          </a:xfrm>
          <a:prstGeom prst="bentConnector3">
            <a:avLst>
              <a:gd name="adj1" fmla="val -53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C59522D-9DB8-E44E-ECC6-1B31CCF103AF}"/>
              </a:ext>
            </a:extLst>
          </p:cNvPr>
          <p:cNvSpPr txBox="1"/>
          <p:nvPr/>
        </p:nvSpPr>
        <p:spPr>
          <a:xfrm>
            <a:off x="3626302" y="3600840"/>
            <a:ext cx="742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F2700F-6E75-0F29-3BCC-0D998E287DAB}"/>
              </a:ext>
            </a:extLst>
          </p:cNvPr>
          <p:cNvSpPr txBox="1"/>
          <p:nvPr/>
        </p:nvSpPr>
        <p:spPr>
          <a:xfrm>
            <a:off x="7464875" y="3448559"/>
            <a:ext cx="742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B91D44-2A48-49FC-EE50-5B5D42119393}"/>
              </a:ext>
            </a:extLst>
          </p:cNvPr>
          <p:cNvSpPr txBox="1"/>
          <p:nvPr/>
        </p:nvSpPr>
        <p:spPr>
          <a:xfrm>
            <a:off x="11402785" y="5459184"/>
            <a:ext cx="742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24255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144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Vyas</dc:creator>
  <cp:lastModifiedBy>Parth Vyas</cp:lastModifiedBy>
  <cp:revision>6</cp:revision>
  <dcterms:created xsi:type="dcterms:W3CDTF">2026-01-15T15:06:27Z</dcterms:created>
  <dcterms:modified xsi:type="dcterms:W3CDTF">2026-01-16T15:52:59Z</dcterms:modified>
</cp:coreProperties>
</file>